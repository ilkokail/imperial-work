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embeddedFontLst>
    <p:embeddedFont>
      <p:font typeface="Hammersmith One" panose="02010703030501060504" pitchFamily="2" charset="77"/>
      <p:regular r:id="rId24"/>
    </p:embeddedFont>
    <p:embeddedFont>
      <p:font typeface="Josefin Sans" pitchFamily="2" charset="77"/>
      <p:regular r:id="rId25"/>
      <p:bold r:id="rId26"/>
      <p:italic r:id="rId27"/>
      <p:boldItalic r:id="rId28"/>
    </p:embeddedFont>
    <p:embeddedFont>
      <p:font typeface="Montserrat" pitchFamily="2" charset="77"/>
      <p:regular r:id="rId29"/>
      <p:bold r:id="rId30"/>
      <p:italic r:id="rId31"/>
      <p:boldItalic r:id="rId32"/>
    </p:embeddedFont>
    <p:embeddedFont>
      <p:font typeface="Montserrat SemiBold" panose="020F0502020204030204" pitchFamily="34" charset="0"/>
      <p:regular r:id="rId33"/>
      <p:bold r:id="rId34"/>
      <p:italic r:id="rId35"/>
      <p:boldItalic r:id="rId36"/>
    </p:embeddedFont>
    <p:embeddedFont>
      <p:font typeface="Open Sans" panose="020B0606030504020204" pitchFamily="34" charset="0"/>
      <p:regular r:id="rId37"/>
      <p:bold r:id="rId38"/>
      <p:italic r:id="rId39"/>
      <p:boldItalic r:id="rId40"/>
    </p:embeddedFont>
    <p:embeddedFont>
      <p:font typeface="Questrial" pitchFamily="2" charset="77"/>
      <p:regular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4"/>
  </p:normalViewPr>
  <p:slideViewPr>
    <p:cSldViewPr snapToGrid="0">
      <p:cViewPr varScale="1">
        <p:scale>
          <a:sx n="104" d="100"/>
          <a:sy n="104" d="100"/>
        </p:scale>
        <p:origin x="18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11b59a9b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11b59a9b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1F497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0e89e3854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00e89e3854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00e89e3854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00e89e3854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0107a2652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0107a2652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b83ef471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b83ef471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b83ef471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b83ef471b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b83ef471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cb83ef471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b83ef471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cb83ef471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cb83ef471b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cb83ef471b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0111961f8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0111961f8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0111961f8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0111961f8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0111961f8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0111961f8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0111961f8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0111961f8e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0111961f8e_2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0111961f8e_2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0111961f8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0111961f8e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0111961f8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0111961f8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0111961f8e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0111961f8e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0111961f8e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0111961f8e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0111961f8e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0111961f8e_2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0111961f8e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0111961f8e_2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0111961f8e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0111961f8e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MFrost-2017-08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-17875"/>
            <a:ext cx="9144000" cy="382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10650" y="3733625"/>
            <a:ext cx="9243300" cy="94500"/>
          </a:xfrm>
          <a:prstGeom prst="rect">
            <a:avLst/>
          </a:prstGeom>
          <a:solidFill>
            <a:srgbClr val="927C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00050" y="1465968"/>
            <a:ext cx="7772400" cy="22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85240"/>
              </a:buClr>
              <a:buSzPts val="3600"/>
              <a:buFont typeface="Montserrat SemiBold"/>
              <a:buNone/>
              <a:defRPr sz="3600">
                <a:solidFill>
                  <a:srgbClr val="B852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23900" y="3850276"/>
            <a:ext cx="7772400" cy="9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None/>
              <a:defRPr sz="2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 b="1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 b="1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 b="1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 b="1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 b="1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 b="1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 b="1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 b="1">
                <a:solidFill>
                  <a:schemeClr val="lt2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Montserrat SemiBold"/>
              <a:buNone/>
              <a:defRPr sz="36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457200" y="705598"/>
            <a:ext cx="8229600" cy="56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60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AND_BODY_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Montserrat SemiBold"/>
              <a:buNone/>
              <a:defRPr sz="36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Montserrat SemiBold"/>
              <a:buNone/>
              <a:defRPr sz="2200">
                <a:solidFill>
                  <a:schemeClr val="accent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/>
          <p:nvPr/>
        </p:nvSpPr>
        <p:spPr>
          <a:xfrm>
            <a:off x="0" y="274636"/>
            <a:ext cx="8686800" cy="155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dern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947332"/>
            <a:ext cx="8229600" cy="46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Questrial"/>
              <a:buChar char="●"/>
              <a:defRPr sz="30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Questrial"/>
              <a:buChar char="○"/>
              <a:defRPr sz="24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Questrial"/>
              <a:buChar char="■"/>
              <a:defRPr sz="24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Questrial"/>
              <a:buChar char="●"/>
              <a:defRPr sz="18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Questrial"/>
              <a:buChar char="○"/>
              <a:defRPr sz="18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Questrial"/>
              <a:buChar char="■"/>
              <a:defRPr sz="18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Questrial"/>
              <a:buChar char="●"/>
              <a:defRPr sz="18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Questrial"/>
              <a:buChar char="○"/>
              <a:defRPr sz="18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Questrial"/>
              <a:buChar char="■"/>
              <a:defRPr sz="18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-36675" y="6674625"/>
            <a:ext cx="9223500" cy="2475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6598433"/>
            <a:ext cx="9144000" cy="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Patrick Dunne (Imperial)					ML BD </a:t>
            </a:r>
            <a:r>
              <a:rPr lang="en-GB" sz="1000" dirty="0" err="1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MRes</a:t>
            </a:r>
            <a:r>
              <a:rPr lang="en-GB" sz="1000" dirty="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 - Practical  			 			November 2022</a:t>
            </a:r>
            <a:endParaRPr sz="1000" dirty="0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ference.org.uk/mackay/itila/book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tutorials/beginner/deep_learning_60min_blitz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323533a0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jarvist.github.io/2021-PhysicsMachineLearningPracticum/02_GaussianProcessPotentialEnergySurface.htm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ctrTitle"/>
          </p:nvPr>
        </p:nvSpPr>
        <p:spPr>
          <a:xfrm>
            <a:off x="700050" y="1465968"/>
            <a:ext cx="7772400" cy="22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accent2"/>
                </a:solidFill>
              </a:rPr>
              <a:t>§3.3 MLBD MRes practical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accent2"/>
                </a:solidFill>
              </a:rPr>
              <a:t>From a single neuron to the multilayer perceptron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32" name="Google Shape;3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7476" y="-1288175"/>
            <a:ext cx="897276" cy="61898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8"/>
          <p:cNvSpPr/>
          <p:nvPr/>
        </p:nvSpPr>
        <p:spPr>
          <a:xfrm>
            <a:off x="9732500" y="0"/>
            <a:ext cx="1251000" cy="931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8"/>
          <p:cNvSpPr/>
          <p:nvPr/>
        </p:nvSpPr>
        <p:spPr>
          <a:xfrm>
            <a:off x="11197890" y="0"/>
            <a:ext cx="1251000" cy="9315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8"/>
          <p:cNvSpPr/>
          <p:nvPr/>
        </p:nvSpPr>
        <p:spPr>
          <a:xfrm>
            <a:off x="9777548" y="1074864"/>
            <a:ext cx="1251000" cy="9315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11197890" y="1074864"/>
            <a:ext cx="1251000" cy="9315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/>
          <p:nvPr/>
        </p:nvSpPr>
        <p:spPr>
          <a:xfrm>
            <a:off x="11197890" y="2149729"/>
            <a:ext cx="1251000" cy="9315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</a:endParaRPr>
          </a:p>
        </p:txBody>
      </p:sp>
      <p:sp>
        <p:nvSpPr>
          <p:cNvPr id="38" name="Google Shape;38;p8"/>
          <p:cNvSpPr/>
          <p:nvPr/>
        </p:nvSpPr>
        <p:spPr>
          <a:xfrm>
            <a:off x="9777548" y="2149729"/>
            <a:ext cx="1251000" cy="931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/>
          <p:nvPr/>
        </p:nvSpPr>
        <p:spPr>
          <a:xfrm>
            <a:off x="9777548" y="3224593"/>
            <a:ext cx="1251000" cy="931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" name="Google Shape;4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1710" y="475389"/>
            <a:ext cx="2531937" cy="61897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/>
          <p:nvPr/>
        </p:nvSpPr>
        <p:spPr>
          <a:xfrm>
            <a:off x="9732500" y="4603275"/>
            <a:ext cx="7967100" cy="18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Montserrat"/>
                <a:ea typeface="Montserrat"/>
                <a:cs typeface="Montserrat"/>
                <a:sym typeface="Montserrat"/>
              </a:rPr>
              <a:t>Styles + Sizes: (by Golden Ratio)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Montserrat"/>
                <a:ea typeface="Montserrat"/>
                <a:cs typeface="Montserrat"/>
                <a:sym typeface="Montserrat"/>
              </a:rPr>
              <a:t>36 for large headline, Montserrat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Questrial"/>
                <a:ea typeface="Questrial"/>
                <a:cs typeface="Questrial"/>
                <a:sym typeface="Questrial"/>
              </a:rPr>
              <a:t>22 for big text / small headlines, Questrial (Futura like)</a:t>
            </a:r>
            <a:endParaRPr sz="2200"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Questrial"/>
                <a:ea typeface="Questrial"/>
                <a:cs typeface="Questrial"/>
                <a:sym typeface="Questrial"/>
              </a:rPr>
              <a:t>14 for small text, Questrial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Questrial"/>
                <a:ea typeface="Questrial"/>
                <a:cs typeface="Questrial"/>
                <a:sym typeface="Questrial"/>
              </a:rPr>
              <a:t>9 (8.5) for smaller text, Questrial</a:t>
            </a:r>
            <a:endParaRPr sz="9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3" name="Google Shape;43;p8"/>
          <p:cNvSpPr txBox="1">
            <a:spLocks noGrp="1"/>
          </p:cNvSpPr>
          <p:nvPr>
            <p:ph type="subTitle" idx="1"/>
          </p:nvPr>
        </p:nvSpPr>
        <p:spPr>
          <a:xfrm>
            <a:off x="723900" y="3850274"/>
            <a:ext cx="7772400" cy="15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>
                <a:solidFill>
                  <a:srgbClr val="696969"/>
                </a:solidFill>
              </a:rPr>
              <a:t>Patrick Dunne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>
                <a:solidFill>
                  <a:srgbClr val="696969"/>
                </a:solidFill>
              </a:rPr>
              <a:t>Material for this week developed by </a:t>
            </a:r>
            <a:r>
              <a:rPr lang="en-GB" u="sng" dirty="0" err="1">
                <a:solidFill>
                  <a:srgbClr val="696969"/>
                </a:solidFill>
              </a:rPr>
              <a:t>Jarvist</a:t>
            </a:r>
            <a:r>
              <a:rPr lang="en-GB" u="sng" dirty="0">
                <a:solidFill>
                  <a:srgbClr val="696969"/>
                </a:solidFill>
              </a:rPr>
              <a:t> Moore Frost</a:t>
            </a:r>
            <a:endParaRPr dirty="0">
              <a:solidFill>
                <a:srgbClr val="696969"/>
              </a:solidFill>
            </a:endParaRPr>
          </a:p>
        </p:txBody>
      </p:sp>
      <p:sp>
        <p:nvSpPr>
          <p:cNvPr id="44" name="Google Shape;44;p8"/>
          <p:cNvSpPr txBox="1"/>
          <p:nvPr/>
        </p:nvSpPr>
        <p:spPr>
          <a:xfrm>
            <a:off x="9937400" y="3292250"/>
            <a:ext cx="2325600" cy="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Colour swatch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" name="Google Shape;45;p8"/>
          <p:cNvPicPr preferRelativeResize="0"/>
          <p:nvPr/>
        </p:nvPicPr>
        <p:blipFill rotWithShape="1">
          <a:blip r:embed="rId5">
            <a:alphaModFix/>
          </a:blip>
          <a:srcRect r="14052"/>
          <a:stretch/>
        </p:blipFill>
        <p:spPr>
          <a:xfrm>
            <a:off x="307925" y="-3264875"/>
            <a:ext cx="245587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02450" y="-2095537"/>
            <a:ext cx="1512307" cy="6189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/>
          <p:nvPr/>
        </p:nvSpPr>
        <p:spPr>
          <a:xfrm>
            <a:off x="0" y="7068400"/>
            <a:ext cx="6507000" cy="15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Montserrat SemiBold"/>
                <a:ea typeface="Montserrat SemiBold"/>
                <a:cs typeface="Montserrat SemiBold"/>
                <a:sym typeface="Montserrat SemiBold"/>
              </a:rPr>
              <a:t>36 Montserrat - SemiBold</a:t>
            </a:r>
            <a:endParaRPr sz="36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Questrial"/>
                <a:ea typeface="Questrial"/>
                <a:cs typeface="Questrial"/>
                <a:sym typeface="Questrial"/>
              </a:rPr>
              <a:t>22 Questrial big text  // </a:t>
            </a:r>
            <a:r>
              <a:rPr lang="en-GB" sz="2200">
                <a:latin typeface="Montserrat SemiBold"/>
                <a:ea typeface="Montserrat SemiBold"/>
                <a:cs typeface="Montserrat SemiBold"/>
                <a:sym typeface="Montserrat SemiBold"/>
              </a:rPr>
              <a:t>22 Montserrat - SemiBold (small headings)</a:t>
            </a:r>
            <a:endParaRPr sz="2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14 for small text, Questrial</a:t>
            </a:r>
            <a:endParaRPr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9 (8.5) for smaller text, Questrial</a:t>
            </a:r>
            <a:endParaRPr sz="9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358725" y="7238350"/>
            <a:ext cx="1251000" cy="931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8"/>
          <p:cNvSpPr/>
          <p:nvPr/>
        </p:nvSpPr>
        <p:spPr>
          <a:xfrm>
            <a:off x="7824115" y="7238350"/>
            <a:ext cx="1251000" cy="9315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8"/>
          <p:cNvSpPr/>
          <p:nvPr/>
        </p:nvSpPr>
        <p:spPr>
          <a:xfrm>
            <a:off x="6403773" y="8313214"/>
            <a:ext cx="1251000" cy="9315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8"/>
          <p:cNvSpPr/>
          <p:nvPr/>
        </p:nvSpPr>
        <p:spPr>
          <a:xfrm>
            <a:off x="7824115" y="8313214"/>
            <a:ext cx="1251000" cy="9315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8"/>
          <p:cNvSpPr/>
          <p:nvPr/>
        </p:nvSpPr>
        <p:spPr>
          <a:xfrm>
            <a:off x="7824115" y="9388079"/>
            <a:ext cx="1251000" cy="9315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6403773" y="9388079"/>
            <a:ext cx="1251000" cy="931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8"/>
          <p:cNvSpPr/>
          <p:nvPr/>
        </p:nvSpPr>
        <p:spPr>
          <a:xfrm>
            <a:off x="6403773" y="10462943"/>
            <a:ext cx="1251000" cy="931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8"/>
          <p:cNvSpPr txBox="1"/>
          <p:nvPr/>
        </p:nvSpPr>
        <p:spPr>
          <a:xfrm>
            <a:off x="6563625" y="10530600"/>
            <a:ext cx="2325600" cy="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Colour swatch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457200" y="705598"/>
            <a:ext cx="8229600" cy="56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Demonstrate how multilayer </a:t>
            </a:r>
            <a:r>
              <a:rPr lang="en-GB" dirty="0" err="1">
                <a:solidFill>
                  <a:schemeClr val="accent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perceptrons</a:t>
            </a:r>
            <a:r>
              <a:rPr lang="en-GB" dirty="0">
                <a:solidFill>
                  <a:schemeClr val="accent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are built, by building a network and solving a task within </a:t>
            </a:r>
            <a:r>
              <a:rPr lang="en-GB" dirty="0" err="1">
                <a:solidFill>
                  <a:schemeClr val="accent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PyTorch</a:t>
            </a:r>
            <a:r>
              <a:rPr lang="en-GB" dirty="0">
                <a:solidFill>
                  <a:schemeClr val="accent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.</a:t>
            </a:r>
            <a:endParaRPr dirty="0">
              <a:solidFill>
                <a:schemeClr val="accent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accent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368300" algn="l" rtl="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Montserrat SemiBold"/>
              <a:buChar char="➔"/>
            </a:pPr>
            <a:r>
              <a:rPr lang="en-GB" dirty="0">
                <a:solidFill>
                  <a:schemeClr val="accent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Be able to summarise what we learnt in the first session. (Taught from these slides)</a:t>
            </a:r>
            <a:endParaRPr dirty="0">
              <a:solidFill>
                <a:schemeClr val="accent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200"/>
              <a:buFont typeface="Montserrat SemiBold"/>
              <a:buChar char="➔"/>
            </a:pPr>
            <a:r>
              <a:rPr lang="en-GB" dirty="0">
                <a:solidFill>
                  <a:srgbClr val="008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Reimplement a single neuron binary classifier in </a:t>
            </a:r>
            <a:r>
              <a:rPr lang="en-GB" dirty="0" err="1">
                <a:solidFill>
                  <a:srgbClr val="008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PyTorch</a:t>
            </a:r>
            <a:r>
              <a:rPr lang="en-GB" dirty="0">
                <a:solidFill>
                  <a:srgbClr val="008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. (</a:t>
            </a:r>
            <a:r>
              <a:rPr lang="en-GB" dirty="0" err="1">
                <a:solidFill>
                  <a:srgbClr val="008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Jupyter</a:t>
            </a:r>
            <a:r>
              <a:rPr lang="en-GB" dirty="0">
                <a:solidFill>
                  <a:srgbClr val="008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)</a:t>
            </a:r>
            <a:endParaRPr dirty="0">
              <a:solidFill>
                <a:srgbClr val="008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200"/>
              <a:buFont typeface="Montserrat SemiBold"/>
              <a:buChar char="➔"/>
            </a:pPr>
            <a:r>
              <a:rPr lang="en-GB" dirty="0">
                <a:solidFill>
                  <a:srgbClr val="008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Be aware of the mathematics of backpropagation, the multi-layer learning algorithm. (</a:t>
            </a:r>
            <a:r>
              <a:rPr lang="en-GB" dirty="0" err="1">
                <a:solidFill>
                  <a:srgbClr val="008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Jupyter</a:t>
            </a:r>
            <a:r>
              <a:rPr lang="en-GB" dirty="0">
                <a:solidFill>
                  <a:srgbClr val="008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)</a:t>
            </a:r>
            <a:endParaRPr dirty="0">
              <a:solidFill>
                <a:srgbClr val="008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200"/>
              <a:buFont typeface="Montserrat SemiBold"/>
              <a:buChar char="➔"/>
            </a:pPr>
            <a:r>
              <a:rPr lang="en-GB" dirty="0">
                <a:solidFill>
                  <a:srgbClr val="008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Use a multilayer perceptron to solve a nonlinear task. (</a:t>
            </a:r>
            <a:r>
              <a:rPr lang="en-GB" dirty="0" err="1">
                <a:solidFill>
                  <a:srgbClr val="008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Jupyter</a:t>
            </a:r>
            <a:r>
              <a:rPr lang="en-GB" dirty="0">
                <a:solidFill>
                  <a:srgbClr val="008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)</a:t>
            </a:r>
            <a:endParaRPr dirty="0">
              <a:solidFill>
                <a:srgbClr val="008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200"/>
              <a:buFont typeface="Montserrat SemiBold"/>
              <a:buChar char="➔"/>
            </a:pPr>
            <a:r>
              <a:rPr lang="en-GB" dirty="0">
                <a:solidFill>
                  <a:srgbClr val="008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Run well defined machine-learning experiments to explore and document the parameter space of model construction and learning, communicating progress with your peers. (</a:t>
            </a:r>
            <a:r>
              <a:rPr lang="en-GB" dirty="0" err="1">
                <a:solidFill>
                  <a:srgbClr val="008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Jupyter</a:t>
            </a:r>
            <a:r>
              <a:rPr lang="en-GB" dirty="0">
                <a:solidFill>
                  <a:srgbClr val="008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)</a:t>
            </a:r>
            <a:endParaRPr dirty="0">
              <a:solidFill>
                <a:srgbClr val="008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Intended Learning Outcomes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Recommended reading</a:t>
            </a:r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457200" y="705600"/>
            <a:ext cx="3859800" cy="56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David MacKay, Information Theory, Inference and Learning Algorithms (ITILA), 2003, Chapters 38–42.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Freely available online!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A physicists perspective on ML.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http://www.inference.org.uk/mackay/itila/book.html</a:t>
            </a:r>
            <a:r>
              <a:rPr lang="en-GB"/>
              <a:t>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These slides and classworks follow some of the structure of Chapter 38 &amp; 39.</a:t>
            </a:r>
            <a:endParaRPr/>
          </a:p>
        </p:txBody>
      </p:sp>
      <p:pic>
        <p:nvPicPr>
          <p:cNvPr id="69" name="Google Shape;6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0276" y="1118651"/>
            <a:ext cx="3644400" cy="477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457200" y="705598"/>
            <a:ext cx="8229600" cy="56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Font typeface="Montserrat SemiBold"/>
              <a:buChar char="●"/>
            </a:pPr>
            <a:r>
              <a:rPr lang="en-GB" sz="1400" dirty="0">
                <a:highlight>
                  <a:srgbClr val="D9EAD3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Add missing code:</a:t>
            </a:r>
            <a:endParaRPr sz="1400" dirty="0">
              <a:highlight>
                <a:srgbClr val="D9EAD3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r>
              <a:rPr lang="en-GB" sz="1400" dirty="0">
                <a:highlight>
                  <a:srgbClr val="D9EAD3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Sigmoid activation function</a:t>
            </a:r>
            <a:endParaRPr sz="1400" dirty="0">
              <a:highlight>
                <a:srgbClr val="D9EAD3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r>
              <a:rPr lang="en-GB" sz="1400" dirty="0">
                <a:highlight>
                  <a:srgbClr val="D9EAD3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Neuron function</a:t>
            </a:r>
            <a:endParaRPr sz="1400" dirty="0">
              <a:highlight>
                <a:srgbClr val="D9EAD3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r>
              <a:rPr lang="en-GB" sz="1400" dirty="0">
                <a:highlight>
                  <a:srgbClr val="D9EAD3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Training loop</a:t>
            </a:r>
            <a:endParaRPr sz="1400" dirty="0">
              <a:highlight>
                <a:srgbClr val="D9EAD3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●"/>
            </a:pPr>
            <a:r>
              <a:rPr lang="en-GB" sz="1400" dirty="0">
                <a:highlight>
                  <a:srgbClr val="D9EAD3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You can now train a model &amp; visualise the decision boundary!</a:t>
            </a:r>
            <a:endParaRPr sz="1400" dirty="0">
              <a:highlight>
                <a:srgbClr val="D9EAD3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r>
              <a:rPr lang="en-GB" sz="1400" dirty="0">
                <a:highlight>
                  <a:srgbClr val="D9EAD3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Document how the training performs, with different training rates ('eta') and weight decay ('alpha)</a:t>
            </a:r>
            <a:endParaRPr sz="1400" dirty="0">
              <a:highlight>
                <a:srgbClr val="D9EAD3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r>
              <a:rPr lang="en-GB" sz="1400" dirty="0">
                <a:highlight>
                  <a:srgbClr val="D9EAD3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Compare training with a simple linear classifier</a:t>
            </a:r>
            <a:endParaRPr sz="1400" dirty="0">
              <a:highlight>
                <a:srgbClr val="D9EAD3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r>
              <a:rPr lang="en-GB" sz="1400" dirty="0">
                <a:highlight>
                  <a:srgbClr val="D9EAD3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How does the neuron fair on the more difficult Gaussian dataset?</a:t>
            </a:r>
            <a:endParaRPr sz="1400" dirty="0">
              <a:highlight>
                <a:srgbClr val="D9EAD3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●"/>
            </a:pPr>
            <a:r>
              <a:rPr lang="en-GB" sz="1400" dirty="0">
                <a:highlight>
                  <a:srgbClr val="FCE5CD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Advanced concepts</a:t>
            </a:r>
            <a:endParaRPr sz="1400" dirty="0">
              <a:highlight>
                <a:srgbClr val="FCE5CD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r>
              <a:rPr lang="en-GB" sz="1400" dirty="0">
                <a:highlight>
                  <a:srgbClr val="FCE5CD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Change the activation function. (Think about the gradients.)</a:t>
            </a:r>
            <a:endParaRPr sz="1400" dirty="0">
              <a:highlight>
                <a:srgbClr val="FCE5CD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r>
              <a:rPr lang="en-GB" sz="1400" dirty="0">
                <a:highlight>
                  <a:srgbClr val="FCE5CD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Often neural networks have an additional 'bias' input. Add this to your code.</a:t>
            </a:r>
            <a:endParaRPr sz="1400" dirty="0">
              <a:highlight>
                <a:srgbClr val="FCE5CD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r>
              <a:rPr lang="en-GB" sz="1400" dirty="0">
                <a:highlight>
                  <a:srgbClr val="FCE5CD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Batch training - currently all data is used to build the single gradient.</a:t>
            </a:r>
            <a:endParaRPr sz="1400" dirty="0">
              <a:highlight>
                <a:srgbClr val="FCE5CD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r>
              <a:rPr lang="en-GB" sz="1400" dirty="0">
                <a:highlight>
                  <a:srgbClr val="FCE5CD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What happens if you try and use the method for regression (against a function)?</a:t>
            </a:r>
            <a:endParaRPr sz="1400" dirty="0">
              <a:highlight>
                <a:srgbClr val="FCE5CD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r>
              <a:rPr lang="en-GB" sz="1400" dirty="0">
                <a:highlight>
                  <a:srgbClr val="FCE5CD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Can you improve the regression performance by adding extra neurons side-by-side, each fitting a different part of the function?</a:t>
            </a:r>
            <a:endParaRPr sz="1400" dirty="0">
              <a:highlight>
                <a:srgbClr val="FCE5CD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endParaRPr sz="1400" dirty="0">
              <a:highlight>
                <a:srgbClr val="FCE5CD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●"/>
            </a:pPr>
            <a:r>
              <a:rPr lang="en-GB" sz="1400" dirty="0">
                <a:highlight>
                  <a:srgbClr val="F4CC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Suggested homework / self-study</a:t>
            </a:r>
            <a:endParaRPr sz="1400" dirty="0">
              <a:highlight>
                <a:srgbClr val="F4CC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r>
              <a:rPr lang="en-GB" sz="1400" dirty="0">
                <a:highlight>
                  <a:srgbClr val="F4CC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David MacKay, Information Theory, Inference and Learning Algorithms (ITILA), 2003, Chapters 38–42.</a:t>
            </a:r>
            <a:endParaRPr sz="1400" dirty="0">
              <a:highlight>
                <a:srgbClr val="F4CC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r>
              <a:rPr lang="en-GB" sz="1400" dirty="0" err="1">
                <a:highlight>
                  <a:srgbClr val="F4CC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PyTorch</a:t>
            </a:r>
            <a:r>
              <a:rPr lang="en-GB" sz="1400" dirty="0">
                <a:highlight>
                  <a:srgbClr val="F4CC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 '60 minute Blitz' </a:t>
            </a:r>
            <a:r>
              <a:rPr lang="en-GB" sz="1400" u="sng" dirty="0">
                <a:solidFill>
                  <a:schemeClr val="hlink"/>
                </a:solidFill>
                <a:highlight>
                  <a:srgbClr val="F4CCCC"/>
                </a:highlight>
                <a:latin typeface="Montserrat SemiBold"/>
                <a:ea typeface="Montserrat SemiBold"/>
                <a:cs typeface="Montserrat SemiBold"/>
                <a:sym typeface="Montserrat SemiBold"/>
                <a:hlinkClick r:id="rId3"/>
              </a:rPr>
              <a:t>https://pytorch.org/tutorials/beginner/deep_learning_60min_blitz.html</a:t>
            </a:r>
            <a:r>
              <a:rPr lang="en-GB" sz="1400" dirty="0">
                <a:highlight>
                  <a:srgbClr val="F4CC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1400" dirty="0">
              <a:highlight>
                <a:srgbClr val="F4CC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§3.2 Practical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Decision boundary visualisation</a:t>
            </a:r>
            <a:endParaRPr/>
          </a:p>
        </p:txBody>
      </p:sp>
      <p:pic>
        <p:nvPicPr>
          <p:cNvPr id="81" name="Google Shape;8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9787" y="96000"/>
            <a:ext cx="6344424" cy="569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Decision boundary visualisation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9787" y="96000"/>
            <a:ext cx="6344424" cy="569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4403013">
            <a:off x="5267595" y="754750"/>
            <a:ext cx="2926574" cy="27774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2561125" y="540150"/>
            <a:ext cx="2828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MODEL SAYS NO</a:t>
            </a:r>
            <a:endParaRPr sz="2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394675" y="4315750"/>
            <a:ext cx="2828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MODEL SAYS YES</a:t>
            </a:r>
            <a:endParaRPr sz="2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0" y="2743875"/>
            <a:ext cx="2056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MODEL UNCERTAIN</a:t>
            </a:r>
            <a:endParaRPr sz="2200">
              <a:solidFill>
                <a:schemeClr val="accent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125" y="103850"/>
            <a:ext cx="6083741" cy="5570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body" idx="1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'Learning curves'</a:t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0272" y="705600"/>
            <a:ext cx="5758626" cy="504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6447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body" idx="1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"/>
            <a:ext cx="9144003" cy="6447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644722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>
            <a:spLocks noGrp="1"/>
          </p:cNvSpPr>
          <p:nvPr>
            <p:ph type="body" idx="1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Single neuron by hand. No magic involved!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>
            <a:spLocks noGrp="1"/>
          </p:cNvSpPr>
          <p:nvPr>
            <p:ph type="body" idx="1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3050" y="175125"/>
            <a:ext cx="5788591" cy="5570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body" idx="1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6800" y="175125"/>
            <a:ext cx="5710412" cy="5570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Similarly poor on overlapping Gaussians…</a:t>
            </a:r>
            <a:endParaRPr/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875" y="0"/>
            <a:ext cx="6105348" cy="587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8600"/>
            <a:ext cx="9144003" cy="644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Magic comes from emergent behaviour…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body" idx="1"/>
          </p:nvPr>
        </p:nvSpPr>
        <p:spPr>
          <a:xfrm>
            <a:off x="457200" y="5570279"/>
            <a:ext cx="82296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Multilayer perceptron: 2=&gt;40, ReLU; 40=&gt; 1, Sigmoid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Training by back propagation (G.Hinton 1986)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latin typeface="Questrial"/>
                <a:ea typeface="Questrial"/>
                <a:cs typeface="Questrial"/>
                <a:sym typeface="Questrial"/>
              </a:rPr>
              <a:t>Rumelhart, D., Hinton, G. &amp; Williams, R. Learning representations by back-propagating errors. Nature 323, 533–536 (1986). </a:t>
            </a:r>
            <a:r>
              <a:rPr lang="en-GB" sz="950" u="sng"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  <a:hlinkClick r:id="rId3"/>
              </a:rPr>
              <a:t>https://doi.org/10.1038/323533a0</a:t>
            </a:r>
            <a:r>
              <a:rPr lang="en-GB" sz="950"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950"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2425" y="-76200"/>
            <a:ext cx="6105348" cy="587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>
            <a:spLocks noGrp="1"/>
          </p:cNvSpPr>
          <p:nvPr>
            <p:ph type="body" idx="1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7" name="Google Shape;15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850" y="0"/>
            <a:ext cx="6022868" cy="587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body" idx="1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OK! Solution not so good (accuracy = 35%?)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But non-linear, and interesting wiggles</a:t>
            </a:r>
            <a:endParaRPr/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700" y="0"/>
            <a:ext cx="6105348" cy="587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>
            <a:spLocks noGrp="1"/>
          </p:cNvSpPr>
          <p:nvPr>
            <p:ph type="body" idx="1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Training is highly empirical; can take a long time.</a:t>
            </a:r>
            <a:endParaRPr/>
          </a:p>
        </p:txBody>
      </p:sp>
      <p:pic>
        <p:nvPicPr>
          <p:cNvPr id="169" name="Google Shape;1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4413" y="0"/>
            <a:ext cx="6135170" cy="58750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26"/>
          <p:cNvCxnSpPr/>
          <p:nvPr/>
        </p:nvCxnSpPr>
        <p:spPr>
          <a:xfrm>
            <a:off x="6176750" y="2475250"/>
            <a:ext cx="238500" cy="18621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1" name="Google Shape;171;p26"/>
          <p:cNvSpPr txBox="1"/>
          <p:nvPr/>
        </p:nvSpPr>
        <p:spPr>
          <a:xfrm>
            <a:off x="5321625" y="1263600"/>
            <a:ext cx="1816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Montserrat SemiBold"/>
                <a:ea typeface="Montserrat SemiBold"/>
                <a:cs typeface="Montserrat SemiBold"/>
                <a:sym typeface="Montserrat SemiBold"/>
              </a:rPr>
              <a:t>Let's look at here…</a:t>
            </a:r>
            <a:endParaRPr sz="2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72" name="Google Shape;172;p26"/>
          <p:cNvCxnSpPr/>
          <p:nvPr/>
        </p:nvCxnSpPr>
        <p:spPr>
          <a:xfrm flipH="1">
            <a:off x="2809400" y="2690975"/>
            <a:ext cx="347100" cy="17307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3" name="Google Shape;173;p26"/>
          <p:cNvSpPr txBox="1"/>
          <p:nvPr/>
        </p:nvSpPr>
        <p:spPr>
          <a:xfrm>
            <a:off x="2963475" y="1759900"/>
            <a:ext cx="1566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Montserrat SemiBold"/>
                <a:ea typeface="Montserrat SemiBold"/>
                <a:cs typeface="Montserrat SemiBold"/>
                <a:sym typeface="Montserrat SemiBold"/>
              </a:rPr>
              <a:t>Early stopping</a:t>
            </a:r>
            <a:endParaRPr sz="2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>
            <a:spLocks noGrp="1"/>
          </p:cNvSpPr>
          <p:nvPr>
            <p:ph type="body" idx="1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9" name="Google Shape;17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100" y="0"/>
            <a:ext cx="6105348" cy="587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>
            <a:spLocks noGrp="1"/>
          </p:cNvSpPr>
          <p:nvPr>
            <p:ph type="body" idx="1"/>
          </p:nvPr>
        </p:nvSpPr>
        <p:spPr>
          <a:xfrm>
            <a:off x="457200" y="705598"/>
            <a:ext cx="8229600" cy="56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Font typeface="Montserrat SemiBold"/>
              <a:buChar char="●"/>
            </a:pPr>
            <a:r>
              <a:rPr lang="en-GB" sz="1400" dirty="0">
                <a:highlight>
                  <a:srgbClr val="D9EAD3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Add missing (</a:t>
            </a:r>
            <a:r>
              <a:rPr lang="en-GB" sz="1400" dirty="0" err="1">
                <a:highlight>
                  <a:srgbClr val="D9EAD3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PyTorch</a:t>
            </a:r>
            <a:r>
              <a:rPr lang="en-GB" sz="1400" dirty="0">
                <a:highlight>
                  <a:srgbClr val="D9EAD3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!) code:</a:t>
            </a:r>
            <a:endParaRPr sz="1400" dirty="0">
              <a:highlight>
                <a:srgbClr val="D9EAD3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r>
              <a:rPr lang="en-GB" sz="1400" dirty="0">
                <a:highlight>
                  <a:srgbClr val="D9EAD3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Rebuild a single neuron in </a:t>
            </a:r>
            <a:r>
              <a:rPr lang="en-GB" sz="1400" dirty="0" err="1">
                <a:highlight>
                  <a:srgbClr val="D9EAD3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Pytorch</a:t>
            </a:r>
            <a:endParaRPr sz="1400" dirty="0">
              <a:highlight>
                <a:srgbClr val="D9EAD3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■"/>
            </a:pPr>
            <a:r>
              <a:rPr lang="en-GB" sz="1400" dirty="0">
                <a:highlight>
                  <a:srgbClr val="D9EAD3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Layers, loss function</a:t>
            </a:r>
            <a:endParaRPr sz="1400" dirty="0">
              <a:highlight>
                <a:srgbClr val="D9EAD3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■"/>
            </a:pPr>
            <a:r>
              <a:rPr lang="en-GB" sz="1400" dirty="0">
                <a:highlight>
                  <a:srgbClr val="D9EAD3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accuracy function: true positives + true negatives / total</a:t>
            </a:r>
            <a:endParaRPr sz="1400" dirty="0">
              <a:highlight>
                <a:srgbClr val="D9EAD3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r>
              <a:rPr lang="en-GB" sz="1400" dirty="0">
                <a:highlight>
                  <a:srgbClr val="D9EAD3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Multilayer Perceptron</a:t>
            </a:r>
            <a:endParaRPr sz="1400" dirty="0">
              <a:highlight>
                <a:srgbClr val="D9EAD3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■"/>
            </a:pPr>
            <a:r>
              <a:rPr lang="en-GB" sz="1400" dirty="0">
                <a:highlight>
                  <a:srgbClr val="D9EAD3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Define architecture; define loss function</a:t>
            </a:r>
            <a:endParaRPr sz="1400" dirty="0">
              <a:highlight>
                <a:srgbClr val="D9EAD3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●"/>
            </a:pPr>
            <a:r>
              <a:rPr lang="en-GB" sz="1400" dirty="0">
                <a:highlight>
                  <a:srgbClr val="FFF2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Single neuron experiments - now with </a:t>
            </a:r>
            <a:r>
              <a:rPr lang="en-GB" sz="1400" dirty="0" err="1">
                <a:highlight>
                  <a:srgbClr val="FFF2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PyTorch</a:t>
            </a:r>
            <a:endParaRPr sz="1400" dirty="0">
              <a:highlight>
                <a:srgbClr val="FFF2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r>
              <a:rPr lang="en-GB" sz="1400" dirty="0">
                <a:highlight>
                  <a:srgbClr val="FFF2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Change the activation function. (Think about the gradients.)</a:t>
            </a:r>
            <a:endParaRPr sz="1400" dirty="0">
              <a:highlight>
                <a:srgbClr val="FFF2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r>
              <a:rPr lang="en-GB" sz="1400" dirty="0">
                <a:highlight>
                  <a:srgbClr val="FFF2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What effect does the bias have?</a:t>
            </a:r>
            <a:endParaRPr sz="1400" dirty="0">
              <a:highlight>
                <a:srgbClr val="FFF2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r>
              <a:rPr lang="en-GB" sz="1400" dirty="0">
                <a:highlight>
                  <a:srgbClr val="FFF2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Set the weights by hand, and document the decision boundary.</a:t>
            </a:r>
            <a:endParaRPr sz="1400" dirty="0">
              <a:highlight>
                <a:srgbClr val="FFF2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●"/>
            </a:pPr>
            <a:r>
              <a:rPr lang="en-GB" sz="1400" dirty="0">
                <a:highlight>
                  <a:srgbClr val="FFF2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Multi-layer perceptron experiments - with </a:t>
            </a:r>
            <a:r>
              <a:rPr lang="en-GB" sz="1400" dirty="0" err="1">
                <a:highlight>
                  <a:srgbClr val="FFF2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PyTorch</a:t>
            </a:r>
            <a:endParaRPr sz="1400" dirty="0">
              <a:highlight>
                <a:srgbClr val="FFF2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</a:pPr>
            <a:r>
              <a:rPr lang="en-GB" sz="1400" dirty="0">
                <a:highlight>
                  <a:srgbClr val="FFF2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Experiment with model construction, task, learning parameters, etc.</a:t>
            </a:r>
            <a:endParaRPr sz="1400" dirty="0">
              <a:highlight>
                <a:srgbClr val="FFF2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■"/>
            </a:pPr>
            <a:r>
              <a:rPr lang="en-GB" sz="1400" dirty="0">
                <a:highlight>
                  <a:srgbClr val="FFF2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Document as you go! (</a:t>
            </a:r>
            <a:r>
              <a:rPr lang="en-GB" sz="1400" dirty="0" err="1">
                <a:highlight>
                  <a:srgbClr val="FFF2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Jupyter</a:t>
            </a:r>
            <a:r>
              <a:rPr lang="en-GB" sz="1400" dirty="0">
                <a:highlight>
                  <a:srgbClr val="FFF2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 is really bad for this.)</a:t>
            </a:r>
            <a:endParaRPr sz="1400" dirty="0">
              <a:highlight>
                <a:srgbClr val="FFF2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■"/>
            </a:pPr>
            <a:r>
              <a:rPr lang="en-GB" sz="1400" dirty="0">
                <a:highlight>
                  <a:srgbClr val="FFF2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Scoreboard for highest accuracy against each task:</a:t>
            </a:r>
            <a:endParaRPr sz="1400" dirty="0">
              <a:highlight>
                <a:srgbClr val="FFF2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1828800" lvl="3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●"/>
            </a:pPr>
            <a:r>
              <a:rPr lang="en-GB" sz="1400" dirty="0">
                <a:highlight>
                  <a:srgbClr val="FFF2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Moons</a:t>
            </a:r>
            <a:endParaRPr sz="1400" dirty="0">
              <a:highlight>
                <a:srgbClr val="FFF2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1828800" lvl="3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●"/>
            </a:pPr>
            <a:r>
              <a:rPr lang="en-GB" sz="1400" dirty="0">
                <a:highlight>
                  <a:srgbClr val="FFF2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Gaussians</a:t>
            </a:r>
            <a:endParaRPr sz="1400" dirty="0">
              <a:highlight>
                <a:srgbClr val="FFF2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1828800" lvl="3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●"/>
            </a:pPr>
            <a:r>
              <a:rPr lang="en-GB" sz="1400" dirty="0">
                <a:highlight>
                  <a:srgbClr val="FFF2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Your own challenge here?</a:t>
            </a:r>
            <a:endParaRPr sz="1400" dirty="0">
              <a:highlight>
                <a:srgbClr val="FFF2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SemiBold"/>
              <a:buChar char="●"/>
            </a:pPr>
            <a:r>
              <a:rPr lang="en-GB" sz="1400" dirty="0">
                <a:solidFill>
                  <a:schemeClr val="dk1"/>
                </a:solidFill>
                <a:highlight>
                  <a:srgbClr val="F4CC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Extend </a:t>
            </a:r>
            <a:r>
              <a:rPr lang="en-GB" sz="1400" dirty="0" err="1">
                <a:solidFill>
                  <a:schemeClr val="dk1"/>
                </a:solidFill>
                <a:highlight>
                  <a:srgbClr val="F4CC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PyTorch</a:t>
            </a:r>
            <a:r>
              <a:rPr lang="en-GB" sz="1400" dirty="0">
                <a:solidFill>
                  <a:schemeClr val="dk1"/>
                </a:solidFill>
                <a:highlight>
                  <a:srgbClr val="F4CC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 code to Regression</a:t>
            </a:r>
            <a:endParaRPr sz="1400" dirty="0">
              <a:solidFill>
                <a:schemeClr val="dk1"/>
              </a:solidFill>
              <a:highlight>
                <a:srgbClr val="F4CC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SemiBold"/>
              <a:buChar char="○"/>
            </a:pPr>
            <a:r>
              <a:rPr lang="en-GB" sz="1400" dirty="0">
                <a:solidFill>
                  <a:schemeClr val="dk1"/>
                </a:solidFill>
                <a:highlight>
                  <a:srgbClr val="F4CC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What happens if you try and use the method for regression (against a function)?</a:t>
            </a:r>
            <a:endParaRPr sz="1400" dirty="0">
              <a:solidFill>
                <a:schemeClr val="dk1"/>
              </a:solidFill>
              <a:highlight>
                <a:srgbClr val="F4CC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SemiBold"/>
              <a:buChar char="■"/>
            </a:pPr>
            <a:r>
              <a:rPr lang="en-GB" sz="1400" dirty="0">
                <a:solidFill>
                  <a:schemeClr val="dk1"/>
                </a:solidFill>
                <a:highlight>
                  <a:srgbClr val="F4CC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Collect data points from a function, and fit over a range, i.e.</a:t>
            </a:r>
            <a:endParaRPr sz="1400" dirty="0">
              <a:solidFill>
                <a:schemeClr val="dk1"/>
              </a:solidFill>
              <a:highlight>
                <a:srgbClr val="F4CC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182880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SemiBold"/>
              <a:buChar char="●"/>
            </a:pPr>
            <a:r>
              <a:rPr lang="en-GB" sz="1400" dirty="0">
                <a:solidFill>
                  <a:schemeClr val="dk1"/>
                </a:solidFill>
                <a:highlight>
                  <a:srgbClr val="F4CC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y=sin(x) ; y=x ; y=x^2 ; y=</a:t>
            </a:r>
            <a:r>
              <a:rPr lang="en-GB" sz="1400" dirty="0" err="1">
                <a:solidFill>
                  <a:schemeClr val="dk1"/>
                </a:solidFill>
                <a:highlight>
                  <a:srgbClr val="F4CC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sinh</a:t>
            </a:r>
            <a:r>
              <a:rPr lang="en-GB" sz="1400" dirty="0">
                <a:solidFill>
                  <a:schemeClr val="dk1"/>
                </a:solidFill>
                <a:highlight>
                  <a:srgbClr val="F4CC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(x)</a:t>
            </a:r>
            <a:endParaRPr sz="1400" dirty="0">
              <a:solidFill>
                <a:schemeClr val="dk1"/>
              </a:solidFill>
              <a:highlight>
                <a:srgbClr val="F4CC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SemiBold"/>
              <a:buChar char="○"/>
            </a:pPr>
            <a:r>
              <a:rPr lang="en-GB" sz="1400" dirty="0">
                <a:solidFill>
                  <a:schemeClr val="dk1"/>
                </a:solidFill>
                <a:highlight>
                  <a:srgbClr val="F4CC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Can you improve the regression performance by adding extra neurons side-by-side, each fitting a different part of the function?</a:t>
            </a:r>
            <a:endParaRPr sz="1400" dirty="0">
              <a:solidFill>
                <a:schemeClr val="dk1"/>
              </a:solidFill>
              <a:highlight>
                <a:srgbClr val="F4CC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SemiBold"/>
              <a:buChar char="○"/>
            </a:pPr>
            <a:r>
              <a:rPr lang="en-GB" sz="1400" dirty="0">
                <a:solidFill>
                  <a:schemeClr val="dk1"/>
                </a:solidFill>
                <a:highlight>
                  <a:srgbClr val="F4CC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Compare regression to Gaussian processes: </a:t>
            </a:r>
            <a:r>
              <a:rPr lang="en-GB" sz="1400" u="sng" dirty="0">
                <a:solidFill>
                  <a:schemeClr val="dk1"/>
                </a:solidFill>
                <a:highlight>
                  <a:srgbClr val="F4CCCC"/>
                </a:highlight>
                <a:latin typeface="Montserrat SemiBold"/>
                <a:ea typeface="Montserrat SemiBold"/>
                <a:cs typeface="Montserrat SemiBold"/>
                <a:sym typeface="Montserrat Semi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https://jarvist.github.io/2021-PhysicsMachineLearningPracticum/02_GaussianProcessPotentialEnergySurface.html</a:t>
            </a:r>
            <a:r>
              <a:rPr lang="en-GB" sz="1400" dirty="0">
                <a:solidFill>
                  <a:schemeClr val="dk1"/>
                </a:solidFill>
                <a:highlight>
                  <a:srgbClr val="F4CCCC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1400" dirty="0">
              <a:solidFill>
                <a:schemeClr val="dk1"/>
              </a:solidFill>
              <a:highlight>
                <a:srgbClr val="F4CCCC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§3.3 Practical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19-09-JMF-URF-Academic">
  <a:themeElements>
    <a:clrScheme name="Custom 348">
      <a:dk1>
        <a:srgbClr val="000000"/>
      </a:dk1>
      <a:lt1>
        <a:srgbClr val="FFFFFF"/>
      </a:lt1>
      <a:dk2>
        <a:srgbClr val="191919"/>
      </a:dk2>
      <a:lt2>
        <a:srgbClr val="CCCCCC"/>
      </a:lt2>
      <a:accent1>
        <a:srgbClr val="7E5554"/>
      </a:accent1>
      <a:accent2>
        <a:srgbClr val="910A10"/>
      </a:accent2>
      <a:accent3>
        <a:srgbClr val="84294D"/>
      </a:accent3>
      <a:accent4>
        <a:srgbClr val="DA823B"/>
      </a:accent4>
      <a:accent5>
        <a:srgbClr val="625D3C"/>
      </a:accent5>
      <a:accent6>
        <a:srgbClr val="00384A"/>
      </a:accent6>
      <a:hlink>
        <a:srgbClr val="227A78"/>
      </a:hlink>
      <a:folHlink>
        <a:srgbClr val="39474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816</Words>
  <Application>Microsoft Macintosh PowerPoint</Application>
  <PresentationFormat>On-screen Show (4:3)</PresentationFormat>
  <Paragraphs>93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Times New Roman</vt:lpstr>
      <vt:lpstr>Questrial</vt:lpstr>
      <vt:lpstr>Hammersmith One</vt:lpstr>
      <vt:lpstr>Montserrat SemiBold</vt:lpstr>
      <vt:lpstr>Montserrat</vt:lpstr>
      <vt:lpstr>Josefin Sans</vt:lpstr>
      <vt:lpstr>Open Sans</vt:lpstr>
      <vt:lpstr>2019-09-JMF-URF-Academic</vt:lpstr>
      <vt:lpstr>§3.3 MLBD MRes practical From a single neuron to the multilayer perceptron</vt:lpstr>
      <vt:lpstr>Intended Learning Outcomes</vt:lpstr>
      <vt:lpstr>Recommended reading</vt:lpstr>
      <vt:lpstr>§3.2 Practical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§3.3 Practical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§3.3 MLBD MRes practical From a single neuron to the multilayer perceptron</dc:title>
  <cp:lastModifiedBy>Dunne, Patrick J</cp:lastModifiedBy>
  <cp:revision>1</cp:revision>
  <dcterms:modified xsi:type="dcterms:W3CDTF">2023-11-27T14:36:42Z</dcterms:modified>
</cp:coreProperties>
</file>